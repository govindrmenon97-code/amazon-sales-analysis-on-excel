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3"/>
  </p:notesMasterIdLst>
  <p:sldIdLst>
    <p:sldId id="298" r:id="rId5"/>
    <p:sldId id="300" r:id="rId6"/>
    <p:sldId id="301" r:id="rId7"/>
    <p:sldId id="303" r:id="rId8"/>
    <p:sldId id="302" r:id="rId9"/>
    <p:sldId id="304" r:id="rId10"/>
    <p:sldId id="305" r:id="rId11"/>
    <p:sldId id="3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59" d="100"/>
          <a:sy n="59" d="100"/>
        </p:scale>
        <p:origin x="9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vind Menon" userId="74284eb8b7b85f46" providerId="LiveId" clId="{F7240E1F-9E40-43E9-B681-6FFAFCD6F212}"/>
    <pc:docChg chg="modSld">
      <pc:chgData name="Govind Menon" userId="74284eb8b7b85f46" providerId="LiveId" clId="{F7240E1F-9E40-43E9-B681-6FFAFCD6F212}" dt="2026-02-13T05:49:32.325" v="7" actId="20577"/>
      <pc:docMkLst>
        <pc:docMk/>
      </pc:docMkLst>
      <pc:sldChg chg="modSp mod">
        <pc:chgData name="Govind Menon" userId="74284eb8b7b85f46" providerId="LiveId" clId="{F7240E1F-9E40-43E9-B681-6FFAFCD6F212}" dt="2026-02-13T05:49:32.325" v="7" actId="20577"/>
        <pc:sldMkLst>
          <pc:docMk/>
          <pc:sldMk cId="1004655130" sldId="301"/>
        </pc:sldMkLst>
        <pc:spChg chg="mod">
          <ac:chgData name="Govind Menon" userId="74284eb8b7b85f46" providerId="LiveId" clId="{F7240E1F-9E40-43E9-B681-6FFAFCD6F212}" dt="2026-02-13T05:49:32.325" v="7" actId="20577"/>
          <ac:spMkLst>
            <pc:docMk/>
            <pc:sldMk cId="1004655130" sldId="301"/>
            <ac:spMk id="3" creationId="{1867EFEA-F673-2C51-9B1B-A985FEAABCCE}"/>
          </ac:spMkLst>
        </pc:spChg>
      </pc:sldChg>
      <pc:sldChg chg="modSp mod">
        <pc:chgData name="Govind Menon" userId="74284eb8b7b85f46" providerId="LiveId" clId="{F7240E1F-9E40-43E9-B681-6FFAFCD6F212}" dt="2026-02-13T05:49:20.958" v="3" actId="20577"/>
        <pc:sldMkLst>
          <pc:docMk/>
          <pc:sldMk cId="78534970" sldId="302"/>
        </pc:sldMkLst>
        <pc:spChg chg="mod">
          <ac:chgData name="Govind Menon" userId="74284eb8b7b85f46" providerId="LiveId" clId="{F7240E1F-9E40-43E9-B681-6FFAFCD6F212}" dt="2026-02-13T05:49:20.958" v="3" actId="20577"/>
          <ac:spMkLst>
            <pc:docMk/>
            <pc:sldMk cId="78534970" sldId="302"/>
            <ac:spMk id="3" creationId="{9BCDACFF-A2A0-A2D8-976A-043FB708766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F1A05-DC9C-45EA-BFC8-DEC69D55E0BA}"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A37151-B31B-4B10-B1E6-D5AE3384195B}" type="slidenum">
              <a:rPr lang="en-IN" smtClean="0"/>
              <a:t>‹#›</a:t>
            </a:fld>
            <a:endParaRPr lang="en-IN"/>
          </a:p>
        </p:txBody>
      </p:sp>
    </p:spTree>
    <p:extLst>
      <p:ext uri="{BB962C8B-B14F-4D97-AF65-F5344CB8AC3E}">
        <p14:creationId xmlns:p14="http://schemas.microsoft.com/office/powerpoint/2010/main" val="2366467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A37151-B31B-4B10-B1E6-D5AE3384195B}" type="slidenum">
              <a:rPr lang="en-IN" smtClean="0"/>
              <a:t>5</a:t>
            </a:fld>
            <a:endParaRPr lang="en-IN"/>
          </a:p>
        </p:txBody>
      </p:sp>
    </p:spTree>
    <p:extLst>
      <p:ext uri="{BB962C8B-B14F-4D97-AF65-F5344CB8AC3E}">
        <p14:creationId xmlns:p14="http://schemas.microsoft.com/office/powerpoint/2010/main" val="3307542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91FF8-3BE4-5545-FD13-309D6FCFD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C0376-4C88-26A5-8261-53056C1F7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F6FBB-2654-3CE3-9F96-E7A3D3EBF5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DBEDFF-FC5D-7996-DDD2-F4F7840B648E}"/>
              </a:ext>
            </a:extLst>
          </p:cNvPr>
          <p:cNvSpPr>
            <a:spLocks noGrp="1"/>
          </p:cNvSpPr>
          <p:nvPr>
            <p:ph type="sldNum" sz="quarter" idx="5"/>
          </p:nvPr>
        </p:nvSpPr>
        <p:spPr/>
        <p:txBody>
          <a:bodyPr/>
          <a:lstStyle/>
          <a:p>
            <a:fld id="{96A37151-B31B-4B10-B1E6-D5AE3384195B}" type="slidenum">
              <a:rPr lang="en-IN" smtClean="0"/>
              <a:t>6</a:t>
            </a:fld>
            <a:endParaRPr lang="en-IN"/>
          </a:p>
        </p:txBody>
      </p:sp>
    </p:spTree>
    <p:extLst>
      <p:ext uri="{BB962C8B-B14F-4D97-AF65-F5344CB8AC3E}">
        <p14:creationId xmlns:p14="http://schemas.microsoft.com/office/powerpoint/2010/main" val="2161718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E312A-0187-99AE-D886-1DDBD653D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90948-C5F8-AC76-2C97-BC323E97A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6AEBE-8DB4-AF44-BBBE-F6ABFD157A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FD6EE8-AE07-0F59-8579-6106BAAE2E4A}"/>
              </a:ext>
            </a:extLst>
          </p:cNvPr>
          <p:cNvSpPr>
            <a:spLocks noGrp="1"/>
          </p:cNvSpPr>
          <p:nvPr>
            <p:ph type="sldNum" sz="quarter" idx="5"/>
          </p:nvPr>
        </p:nvSpPr>
        <p:spPr/>
        <p:txBody>
          <a:bodyPr/>
          <a:lstStyle/>
          <a:p>
            <a:fld id="{96A37151-B31B-4B10-B1E6-D5AE3384195B}" type="slidenum">
              <a:rPr lang="en-IN" smtClean="0"/>
              <a:t>7</a:t>
            </a:fld>
            <a:endParaRPr lang="en-IN"/>
          </a:p>
        </p:txBody>
      </p:sp>
    </p:spTree>
    <p:extLst>
      <p:ext uri="{BB962C8B-B14F-4D97-AF65-F5344CB8AC3E}">
        <p14:creationId xmlns:p14="http://schemas.microsoft.com/office/powerpoint/2010/main" val="1102765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2/13/2026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109832"/>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228764" y="1475234"/>
            <a:ext cx="3108960" cy="2901694"/>
          </a:xfrm>
        </p:spPr>
        <p:txBody>
          <a:bodyPr anchor="b">
            <a:noAutofit/>
          </a:bodyPr>
          <a:lstStyle/>
          <a:p>
            <a:r>
              <a:rPr lang="en-US" sz="5400" dirty="0">
                <a:solidFill>
                  <a:schemeClr val="tx1"/>
                </a:solidFill>
              </a:rPr>
              <a:t>Amazon Sales Analysis  </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endParaRPr lang="en-US" sz="1600" dirty="0"/>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Introduction</a:t>
            </a:r>
          </a:p>
        </p:txBody>
      </p:sp>
      <p:sp>
        <p:nvSpPr>
          <p:cNvPr id="5" name="Content Placeholder 4">
            <a:extLst>
              <a:ext uri="{FF2B5EF4-FFF2-40B4-BE49-F238E27FC236}">
                <a16:creationId xmlns:a16="http://schemas.microsoft.com/office/drawing/2014/main" id="{4446DA14-7CF7-9BFA-6632-2DAFB0DBDB2C}"/>
              </a:ext>
            </a:extLst>
          </p:cNvPr>
          <p:cNvSpPr>
            <a:spLocks noGrp="1"/>
          </p:cNvSpPr>
          <p:nvPr>
            <p:ph idx="1"/>
          </p:nvPr>
        </p:nvSpPr>
        <p:spPr/>
        <p:txBody>
          <a:bodyPr>
            <a:normAutofit/>
          </a:bodyPr>
          <a:lstStyle/>
          <a:p>
            <a:r>
              <a:rPr lang="en-US" sz="2400" dirty="0"/>
              <a:t>This project analyzes Amazon sales data using an interactive dashboard to understand sales performance, customer buying patterns, product trends, and regional sales distribution. The dashboard highlights key factors to support quick, data-driven business decisions and improve overall performance and customer satisfaction.</a:t>
            </a:r>
            <a:endParaRPr lang="en-IN" sz="2400" dirty="0"/>
          </a:p>
        </p:txBody>
      </p:sp>
    </p:spTree>
    <p:extLst>
      <p:ext uri="{BB962C8B-B14F-4D97-AF65-F5344CB8AC3E}">
        <p14:creationId xmlns:p14="http://schemas.microsoft.com/office/powerpoint/2010/main" val="2933514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1A51-6A01-4124-D836-0BBBB8540F9D}"/>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1867EFEA-F673-2C51-9B1B-A985FEAABCCE}"/>
              </a:ext>
            </a:extLst>
          </p:cNvPr>
          <p:cNvSpPr>
            <a:spLocks noGrp="1"/>
          </p:cNvSpPr>
          <p:nvPr>
            <p:ph idx="1"/>
          </p:nvPr>
        </p:nvSpPr>
        <p:spPr/>
        <p:txBody>
          <a:bodyPr/>
          <a:lstStyle/>
          <a:p>
            <a:pPr>
              <a:buFont typeface="Arial" panose="020B0604020202020204" pitchFamily="34" charset="0"/>
              <a:buChar char="•"/>
            </a:pPr>
            <a:r>
              <a:rPr lang="en-US" sz="2400" dirty="0"/>
              <a:t>Understand overall sales performance.</a:t>
            </a:r>
          </a:p>
          <a:p>
            <a:pPr>
              <a:buFont typeface="Arial" panose="020B0604020202020204" pitchFamily="34" charset="0"/>
              <a:buChar char="•"/>
            </a:pPr>
            <a:r>
              <a:rPr lang="en-US" sz="2400" dirty="0"/>
              <a:t>Identify top products &amp; regions.</a:t>
            </a:r>
          </a:p>
          <a:p>
            <a:pPr>
              <a:buFont typeface="Arial" panose="020B0604020202020204" pitchFamily="34" charset="0"/>
              <a:buChar char="•"/>
            </a:pPr>
            <a:r>
              <a:rPr lang="en-US" sz="2400" dirty="0"/>
              <a:t>Analyze order and fulfillment patterns.</a:t>
            </a:r>
          </a:p>
          <a:p>
            <a:pPr>
              <a:buFont typeface="Arial" panose="020B0604020202020204" pitchFamily="34" charset="0"/>
              <a:buChar char="•"/>
            </a:pPr>
            <a:r>
              <a:rPr lang="en-US" sz="2400" dirty="0"/>
              <a:t>Highlight opportunities for improvement.</a:t>
            </a:r>
          </a:p>
          <a:p>
            <a:pPr>
              <a:buFont typeface="Arial" panose="020B0604020202020204" pitchFamily="34" charset="0"/>
              <a:buChar char="•"/>
            </a:pPr>
            <a:endParaRPr lang="en-US" dirty="0"/>
          </a:p>
          <a:p>
            <a:pPr>
              <a:buFont typeface="Arial" panose="020B0604020202020204" pitchFamily="34" charset="0"/>
              <a:buChar char="•"/>
            </a:pPr>
            <a:endParaRPr lang="en-US" dirty="0"/>
          </a:p>
          <a:p>
            <a:pPr marL="0" indent="0">
              <a:buNone/>
            </a:pPr>
            <a:endParaRPr lang="en-US" dirty="0"/>
          </a:p>
          <a:p>
            <a:pPr>
              <a:buFont typeface="Arial" panose="020B0604020202020204" pitchFamily="34" charset="0"/>
              <a:buChar char="•"/>
            </a:pPr>
            <a:endParaRPr lang="en-US" dirty="0"/>
          </a:p>
          <a:p>
            <a:endParaRPr lang="en-US" dirty="0"/>
          </a:p>
          <a:p>
            <a:pPr>
              <a:buFont typeface="Arial" panose="020B0604020202020204" pitchFamily="34" charset="0"/>
              <a:buChar char="•"/>
            </a:pPr>
            <a:endParaRPr lang="en-US" dirty="0"/>
          </a:p>
          <a:p>
            <a:pPr marL="0" indent="0">
              <a:buNone/>
            </a:pPr>
            <a:endParaRPr lang="en-IN" dirty="0"/>
          </a:p>
        </p:txBody>
      </p:sp>
    </p:spTree>
    <p:extLst>
      <p:ext uri="{BB962C8B-B14F-4D97-AF65-F5344CB8AC3E}">
        <p14:creationId xmlns:p14="http://schemas.microsoft.com/office/powerpoint/2010/main" val="1004655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CD01-5D39-0D44-A718-F82AB06089E1}"/>
              </a:ext>
            </a:extLst>
          </p:cNvPr>
          <p:cNvSpPr>
            <a:spLocks noGrp="1"/>
          </p:cNvSpPr>
          <p:nvPr>
            <p:ph type="title"/>
          </p:nvPr>
        </p:nvSpPr>
        <p:spPr>
          <a:xfrm>
            <a:off x="1097280" y="286603"/>
            <a:ext cx="10058400" cy="377426"/>
          </a:xfrm>
        </p:spPr>
        <p:txBody>
          <a:bodyPr>
            <a:normAutofit fontScale="90000"/>
          </a:bodyPr>
          <a:lstStyle/>
          <a:p>
            <a:r>
              <a:rPr lang="en-IN" dirty="0"/>
              <a:t>Table</a:t>
            </a:r>
          </a:p>
        </p:txBody>
      </p:sp>
      <p:sp>
        <p:nvSpPr>
          <p:cNvPr id="3" name="Content Placeholder 2">
            <a:extLst>
              <a:ext uri="{FF2B5EF4-FFF2-40B4-BE49-F238E27FC236}">
                <a16:creationId xmlns:a16="http://schemas.microsoft.com/office/drawing/2014/main" id="{85241C3B-91B4-0278-EAB2-92FB3CDA10C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D8F481B-87B2-8F38-4B4A-BAAF7200D415}"/>
              </a:ext>
            </a:extLst>
          </p:cNvPr>
          <p:cNvPicPr>
            <a:picLocks noChangeAspect="1"/>
          </p:cNvPicPr>
          <p:nvPr/>
        </p:nvPicPr>
        <p:blipFill>
          <a:blip r:embed="rId2"/>
          <a:stretch>
            <a:fillRect/>
          </a:stretch>
        </p:blipFill>
        <p:spPr>
          <a:xfrm>
            <a:off x="158445" y="664029"/>
            <a:ext cx="11902926" cy="5649685"/>
          </a:xfrm>
          <a:prstGeom prst="rect">
            <a:avLst/>
          </a:prstGeom>
        </p:spPr>
      </p:pic>
    </p:spTree>
    <p:extLst>
      <p:ext uri="{BB962C8B-B14F-4D97-AF65-F5344CB8AC3E}">
        <p14:creationId xmlns:p14="http://schemas.microsoft.com/office/powerpoint/2010/main" val="425440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C8633-ADB8-C8BC-F508-4596F5ED9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D9788-234D-DCAA-2EB7-09F76A009021}"/>
              </a:ext>
            </a:extLst>
          </p:cNvPr>
          <p:cNvSpPr>
            <a:spLocks noGrp="1"/>
          </p:cNvSpPr>
          <p:nvPr>
            <p:ph type="title"/>
          </p:nvPr>
        </p:nvSpPr>
        <p:spPr/>
        <p:txBody>
          <a:bodyPr/>
          <a:lstStyle/>
          <a:p>
            <a:r>
              <a:rPr lang="en-IN" dirty="0"/>
              <a:t>Insights</a:t>
            </a:r>
          </a:p>
        </p:txBody>
      </p:sp>
      <p:sp>
        <p:nvSpPr>
          <p:cNvPr id="3" name="Content Placeholder 2">
            <a:extLst>
              <a:ext uri="{FF2B5EF4-FFF2-40B4-BE49-F238E27FC236}">
                <a16:creationId xmlns:a16="http://schemas.microsoft.com/office/drawing/2014/main" id="{9BCDACFF-A2A0-A2D8-976A-043FB708766F}"/>
              </a:ext>
            </a:extLst>
          </p:cNvPr>
          <p:cNvSpPr>
            <a:spLocks noGrp="1"/>
          </p:cNvSpPr>
          <p:nvPr>
            <p:ph idx="1"/>
          </p:nvPr>
        </p:nvSpPr>
        <p:spPr/>
        <p:txBody>
          <a:bodyPr/>
          <a:lstStyle/>
          <a:p>
            <a:pPr>
              <a:buFont typeface="Arial" panose="020B0604020202020204" pitchFamily="34" charset="0"/>
              <a:buChar char="•"/>
            </a:pPr>
            <a:r>
              <a:rPr lang="en-US" sz="2400" dirty="0"/>
              <a:t>Total sales is approximately ₹7.86 crore across 120K orders.</a:t>
            </a:r>
          </a:p>
          <a:p>
            <a:pPr>
              <a:buFont typeface="Arial" panose="020B0604020202020204" pitchFamily="34" charset="0"/>
              <a:buChar char="•"/>
            </a:pPr>
            <a:r>
              <a:rPr lang="en-US" sz="2400" dirty="0"/>
              <a:t>Major sales driven by Sets and Kurtas.</a:t>
            </a:r>
          </a:p>
          <a:p>
            <a:pPr>
              <a:buFont typeface="Arial" panose="020B0604020202020204" pitchFamily="34" charset="0"/>
              <a:buChar char="•"/>
            </a:pPr>
            <a:r>
              <a:rPr lang="en-US" sz="2400" dirty="0"/>
              <a:t>Maharashtra &amp; Karnataka lead in sales.</a:t>
            </a:r>
          </a:p>
          <a:p>
            <a:pPr>
              <a:buFont typeface="Arial" panose="020B0604020202020204" pitchFamily="34" charset="0"/>
              <a:buChar char="•"/>
            </a:pPr>
            <a:r>
              <a:rPr lang="en-US" sz="2400" dirty="0"/>
              <a:t>Most orders successfully shipped.</a:t>
            </a:r>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dirty="0"/>
          </a:p>
          <a:p>
            <a:pPr>
              <a:buFont typeface="Arial" panose="020B0604020202020204" pitchFamily="34" charset="0"/>
              <a:buChar char="•"/>
            </a:pPr>
            <a:endParaRPr lang="en-US" dirty="0"/>
          </a:p>
          <a:p>
            <a:pPr marL="0" indent="0">
              <a:buNone/>
            </a:pPr>
            <a:endParaRPr lang="en-US" dirty="0"/>
          </a:p>
          <a:p>
            <a:pPr>
              <a:buFont typeface="Arial" panose="020B0604020202020204" pitchFamily="34" charset="0"/>
              <a:buChar char="•"/>
            </a:pPr>
            <a:endParaRPr lang="en-US" dirty="0"/>
          </a:p>
          <a:p>
            <a:endParaRPr lang="en-US" dirty="0"/>
          </a:p>
          <a:p>
            <a:pPr>
              <a:buFont typeface="Arial" panose="020B0604020202020204" pitchFamily="34" charset="0"/>
              <a:buChar char="•"/>
            </a:pPr>
            <a:endParaRPr lang="en-US" dirty="0"/>
          </a:p>
          <a:p>
            <a:pPr marL="0" indent="0">
              <a:buNone/>
            </a:pPr>
            <a:endParaRPr lang="en-IN" dirty="0"/>
          </a:p>
        </p:txBody>
      </p:sp>
    </p:spTree>
    <p:extLst>
      <p:ext uri="{BB962C8B-B14F-4D97-AF65-F5344CB8AC3E}">
        <p14:creationId xmlns:p14="http://schemas.microsoft.com/office/powerpoint/2010/main" val="78534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7D210-B1D4-FCF9-C994-357E8E4E5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603A6-5374-754E-8D83-79AFDC9A23B8}"/>
              </a:ext>
            </a:extLst>
          </p:cNvPr>
          <p:cNvSpPr>
            <a:spLocks noGrp="1"/>
          </p:cNvSpPr>
          <p:nvPr>
            <p:ph type="title"/>
          </p:nvPr>
        </p:nvSpPr>
        <p:spPr/>
        <p:txBody>
          <a:bodyPr/>
          <a:lstStyle/>
          <a:p>
            <a:r>
              <a:rPr lang="en-IN" dirty="0"/>
              <a:t>Key Findings</a:t>
            </a:r>
          </a:p>
        </p:txBody>
      </p:sp>
      <p:sp>
        <p:nvSpPr>
          <p:cNvPr id="3" name="Content Placeholder 2">
            <a:extLst>
              <a:ext uri="{FF2B5EF4-FFF2-40B4-BE49-F238E27FC236}">
                <a16:creationId xmlns:a16="http://schemas.microsoft.com/office/drawing/2014/main" id="{DDA2456B-BEB8-ECA9-7EC1-E3EA01EDCBB4}"/>
              </a:ext>
            </a:extLst>
          </p:cNvPr>
          <p:cNvSpPr>
            <a:spLocks noGrp="1"/>
          </p:cNvSpPr>
          <p:nvPr>
            <p:ph idx="1"/>
          </p:nvPr>
        </p:nvSpPr>
        <p:spPr/>
        <p:txBody>
          <a:bodyPr/>
          <a:lstStyle/>
          <a:p>
            <a:pPr>
              <a:buFont typeface="Arial" panose="020B0604020202020204" pitchFamily="34" charset="0"/>
              <a:buChar char="•"/>
            </a:pPr>
            <a:r>
              <a:rPr lang="en-US" sz="2400" dirty="0"/>
              <a:t>Top category contributes majority of revenue.</a:t>
            </a:r>
          </a:p>
          <a:p>
            <a:pPr>
              <a:buFont typeface="Arial" panose="020B0604020202020204" pitchFamily="34" charset="0"/>
              <a:buChar char="•"/>
            </a:pPr>
            <a:r>
              <a:rPr lang="en-US" sz="2400" dirty="0"/>
              <a:t>Few states contribute large share of sales.</a:t>
            </a:r>
          </a:p>
          <a:p>
            <a:pPr>
              <a:buFont typeface="Arial" panose="020B0604020202020204" pitchFamily="34" charset="0"/>
              <a:buChar char="•"/>
            </a:pPr>
            <a:r>
              <a:rPr lang="en-US" sz="2400" dirty="0"/>
              <a:t>Cancellation rate around 14%.</a:t>
            </a:r>
          </a:p>
          <a:p>
            <a:pPr>
              <a:buFont typeface="Arial" panose="020B0604020202020204" pitchFamily="34" charset="0"/>
              <a:buChar char="•"/>
            </a:pPr>
            <a:r>
              <a:rPr lang="en-US" sz="2400" dirty="0"/>
              <a:t>Expedited shipping common for deliveries.</a:t>
            </a:r>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dirty="0"/>
          </a:p>
          <a:p>
            <a:pPr>
              <a:buFont typeface="Arial" panose="020B0604020202020204" pitchFamily="34" charset="0"/>
              <a:buChar char="•"/>
            </a:pPr>
            <a:endParaRPr lang="en-US" dirty="0"/>
          </a:p>
          <a:p>
            <a:pPr marL="0" indent="0">
              <a:buNone/>
            </a:pPr>
            <a:endParaRPr lang="en-US" dirty="0"/>
          </a:p>
          <a:p>
            <a:pPr>
              <a:buFont typeface="Arial" panose="020B0604020202020204" pitchFamily="34" charset="0"/>
              <a:buChar char="•"/>
            </a:pPr>
            <a:endParaRPr lang="en-US" dirty="0"/>
          </a:p>
          <a:p>
            <a:endParaRPr lang="en-US" dirty="0"/>
          </a:p>
          <a:p>
            <a:pPr>
              <a:buFont typeface="Arial" panose="020B0604020202020204" pitchFamily="34" charset="0"/>
              <a:buChar char="•"/>
            </a:pPr>
            <a:endParaRPr lang="en-US" dirty="0"/>
          </a:p>
          <a:p>
            <a:pPr marL="0" indent="0">
              <a:buNone/>
            </a:pPr>
            <a:endParaRPr lang="en-IN" dirty="0"/>
          </a:p>
        </p:txBody>
      </p:sp>
    </p:spTree>
    <p:extLst>
      <p:ext uri="{BB962C8B-B14F-4D97-AF65-F5344CB8AC3E}">
        <p14:creationId xmlns:p14="http://schemas.microsoft.com/office/powerpoint/2010/main" val="4262143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F2D3-259F-FF34-A878-640443BE7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89AC-4C55-1457-F701-84A9FF3B3FBF}"/>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D7C90EDB-6E29-AA36-4274-B4E3198963CD}"/>
              </a:ext>
            </a:extLst>
          </p:cNvPr>
          <p:cNvSpPr>
            <a:spLocks noGrp="1"/>
          </p:cNvSpPr>
          <p:nvPr>
            <p:ph idx="1"/>
          </p:nvPr>
        </p:nvSpPr>
        <p:spPr/>
        <p:txBody>
          <a:bodyPr/>
          <a:lstStyle/>
          <a:p>
            <a:pPr>
              <a:buFont typeface="Arial" panose="020B0604020202020204" pitchFamily="34" charset="0"/>
              <a:buChar char="•"/>
            </a:pPr>
            <a:r>
              <a:rPr lang="en-US" sz="2400" dirty="0"/>
              <a:t>Focus marketing on top-performing categories.</a:t>
            </a:r>
          </a:p>
          <a:p>
            <a:pPr>
              <a:buFont typeface="Arial" panose="020B0604020202020204" pitchFamily="34" charset="0"/>
              <a:buChar char="•"/>
            </a:pPr>
            <a:r>
              <a:rPr lang="en-US" sz="2400" dirty="0"/>
              <a:t>Strengthen supply chain in high-demand states.</a:t>
            </a:r>
          </a:p>
          <a:p>
            <a:pPr>
              <a:buFont typeface="Arial" panose="020B0604020202020204" pitchFamily="34" charset="0"/>
              <a:buChar char="•"/>
            </a:pPr>
            <a:r>
              <a:rPr lang="en-US" sz="2400" dirty="0"/>
              <a:t>Investigate causes of order cancellations.</a:t>
            </a:r>
          </a:p>
          <a:p>
            <a:pPr>
              <a:buFont typeface="Arial" panose="020B0604020202020204" pitchFamily="34" charset="0"/>
              <a:buChar char="•"/>
            </a:pPr>
            <a:r>
              <a:rPr lang="en-US" sz="2400" dirty="0"/>
              <a:t>Promote fast delivery options to boost sales.</a:t>
            </a:r>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dirty="0"/>
          </a:p>
          <a:p>
            <a:pPr>
              <a:buFont typeface="Arial" panose="020B0604020202020204" pitchFamily="34" charset="0"/>
              <a:buChar char="•"/>
            </a:pPr>
            <a:endParaRPr lang="en-US" dirty="0"/>
          </a:p>
          <a:p>
            <a:pPr marL="0" indent="0">
              <a:buNone/>
            </a:pPr>
            <a:endParaRPr lang="en-US" dirty="0"/>
          </a:p>
          <a:p>
            <a:pPr>
              <a:buFont typeface="Arial" panose="020B0604020202020204" pitchFamily="34" charset="0"/>
              <a:buChar char="•"/>
            </a:pPr>
            <a:endParaRPr lang="en-US" dirty="0"/>
          </a:p>
          <a:p>
            <a:endParaRPr lang="en-US" dirty="0"/>
          </a:p>
          <a:p>
            <a:pPr>
              <a:buFont typeface="Arial" panose="020B0604020202020204" pitchFamily="34" charset="0"/>
              <a:buChar char="•"/>
            </a:pPr>
            <a:endParaRPr lang="en-US" dirty="0"/>
          </a:p>
          <a:p>
            <a:pPr marL="0" indent="0">
              <a:buNone/>
            </a:pPr>
            <a:endParaRPr lang="en-IN" dirty="0"/>
          </a:p>
        </p:txBody>
      </p:sp>
    </p:spTree>
    <p:extLst>
      <p:ext uri="{BB962C8B-B14F-4D97-AF65-F5344CB8AC3E}">
        <p14:creationId xmlns:p14="http://schemas.microsoft.com/office/powerpoint/2010/main" val="2198884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B4FF1-6145-55CE-54A8-CD37747B18B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AE1434A8-F75C-AB6D-C886-680B96000625}"/>
              </a:ext>
            </a:extLst>
          </p:cNvPr>
          <p:cNvSpPr>
            <a:spLocks noGrp="1"/>
          </p:cNvSpPr>
          <p:nvPr>
            <p:ph idx="1"/>
          </p:nvPr>
        </p:nvSpPr>
        <p:spPr/>
        <p:txBody>
          <a:bodyPr>
            <a:normAutofit/>
          </a:bodyPr>
          <a:lstStyle/>
          <a:p>
            <a:r>
              <a:rPr lang="en-US" sz="2400" dirty="0"/>
              <a:t>The sales dashboard analysis highlights strong business performance driven by key product categories and high-demand regions, while also revealing opportunities to improve fulfillment efficiency and reduce order cancellations. By focusing on top-performing segments, strengthening logistics operations, and using data-driven planning, the business can enhance customer satisfaction and sustain revenue growth. Overall, the dashboard serves as a valuable decision-support tool, enabling management to monitor performance trends and make informed strategic improvements.</a:t>
            </a:r>
            <a:endParaRPr lang="en-IN" sz="2400" dirty="0"/>
          </a:p>
        </p:txBody>
      </p:sp>
    </p:spTree>
    <p:extLst>
      <p:ext uri="{BB962C8B-B14F-4D97-AF65-F5344CB8AC3E}">
        <p14:creationId xmlns:p14="http://schemas.microsoft.com/office/powerpoint/2010/main" val="1617461410"/>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{877A73FC-631E-4DB8-9EEB-BC65645D3A66}TFb63a7776-4452-49b2-8055-21efce632b726e3c8758_win32-7d1db0309ca7</Template>
  <TotalTime>15</TotalTime>
  <Words>246</Words>
  <Application>Microsoft Office PowerPoint</Application>
  <PresentationFormat>Widescreen</PresentationFormat>
  <Paragraphs>58</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Bookman Old Style</vt:lpstr>
      <vt:lpstr>Calibri</vt:lpstr>
      <vt:lpstr>Franklin Gothic Book</vt:lpstr>
      <vt:lpstr>Custom</vt:lpstr>
      <vt:lpstr>Amazon Sales Analysis  </vt:lpstr>
      <vt:lpstr>Introduction</vt:lpstr>
      <vt:lpstr>Objectives</vt:lpstr>
      <vt:lpstr>Table</vt:lpstr>
      <vt:lpstr>Insights</vt:lpstr>
      <vt:lpstr>Key Findings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Govind Menon</dc:creator>
  <cp:lastModifiedBy>Govind Menon</cp:lastModifiedBy>
  <cp:revision>1</cp:revision>
  <dcterms:created xsi:type="dcterms:W3CDTF">2026-02-13T05:32:08Z</dcterms:created>
  <dcterms:modified xsi:type="dcterms:W3CDTF">2026-02-13T05:49:37Z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